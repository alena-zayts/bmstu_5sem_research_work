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0" r:id="rId7"/>
    <p:sldId id="262" r:id="rId8"/>
    <p:sldId id="261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39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CA07D0-C713-4707-B7B7-05ADC177FCCD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4E148-E371-465A-ABF5-79AB384C559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63477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894E148-E371-465A-ABF5-79AB384C5595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7439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02888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451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849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1721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214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688630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9535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8262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543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7364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036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160693-C634-476B-8D5B-95DFFC4A19FA}" type="datetimeFigureOut">
              <a:rPr lang="ru-RU" smtClean="0"/>
              <a:t>17.01.2022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D39DBA-7BC8-4DF7-BDDF-033362F667C7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1051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dirty="0" smtClean="0"/>
              <a:t>Упрощение текстов</a:t>
            </a:r>
            <a:endParaRPr lang="ru-RU" b="1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3999" y="4229539"/>
            <a:ext cx="9144000" cy="1655762"/>
          </a:xfrm>
        </p:spPr>
        <p:txBody>
          <a:bodyPr/>
          <a:lstStyle/>
          <a:p>
            <a:pPr algn="r"/>
            <a:r>
              <a:rPr lang="ru-RU" dirty="0" smtClean="0"/>
              <a:t>Студент: Зайцева А. А., ИУ7-52Б</a:t>
            </a:r>
          </a:p>
          <a:p>
            <a:pPr algn="r"/>
            <a:r>
              <a:rPr lang="ru-RU" dirty="0" smtClean="0"/>
              <a:t>Руководитель: </a:t>
            </a:r>
            <a:r>
              <a:rPr lang="ru-RU" dirty="0" err="1" smtClean="0"/>
              <a:t>Кивва</a:t>
            </a:r>
            <a:r>
              <a:rPr lang="ru-RU" dirty="0" smtClean="0"/>
              <a:t> </a:t>
            </a:r>
            <a:r>
              <a:rPr lang="ru-RU" dirty="0"/>
              <a:t>К</a:t>
            </a:r>
            <a:r>
              <a:rPr lang="ru-RU" dirty="0" smtClean="0"/>
              <a:t>. </a:t>
            </a:r>
            <a:r>
              <a:rPr lang="ru-RU" dirty="0"/>
              <a:t>А</a:t>
            </a:r>
            <a:r>
              <a:rPr lang="ru-RU" dirty="0" smtClean="0"/>
              <a:t>.</a:t>
            </a:r>
            <a:endParaRPr lang="ru-RU" dirty="0"/>
          </a:p>
        </p:txBody>
      </p:sp>
      <p:sp>
        <p:nvSpPr>
          <p:cNvPr id="4" name="TextBox 3"/>
          <p:cNvSpPr txBox="1"/>
          <p:nvPr/>
        </p:nvSpPr>
        <p:spPr>
          <a:xfrm>
            <a:off x="4151586" y="5948855"/>
            <a:ext cx="38888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 smtClean="0"/>
              <a:t>Москва, </a:t>
            </a:r>
            <a:r>
              <a:rPr lang="ru-RU" sz="2000" dirty="0" smtClean="0"/>
              <a:t>2021 </a:t>
            </a:r>
            <a:r>
              <a:rPr lang="ru-RU" sz="2000" dirty="0" smtClean="0"/>
              <a:t>г.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3496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Цели и задачи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566040"/>
            <a:ext cx="10515600" cy="4782207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 smtClean="0"/>
              <a:t>Цель: </a:t>
            </a:r>
            <a:r>
              <a:rPr lang="ru-RU" sz="2400" dirty="0" smtClean="0"/>
              <a:t>выбрать метод, </a:t>
            </a:r>
            <a:r>
              <a:rPr lang="ru-RU" sz="2400" dirty="0"/>
              <a:t>который наиболее полно решает задачу упрощения </a:t>
            </a:r>
            <a:r>
              <a:rPr lang="ru-RU" sz="2400" dirty="0" smtClean="0"/>
              <a:t>текстов</a:t>
            </a:r>
          </a:p>
          <a:p>
            <a:pPr marL="0" indent="0">
              <a:buNone/>
            </a:pPr>
            <a:r>
              <a:rPr lang="ru-RU" sz="2400" dirty="0" smtClean="0"/>
              <a:t>Задачи</a:t>
            </a:r>
            <a:r>
              <a:rPr lang="ru-RU" sz="2400" dirty="0" smtClean="0"/>
              <a:t>: 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предметной области;</a:t>
            </a:r>
          </a:p>
          <a:p>
            <a:r>
              <a:rPr lang="ru-RU" sz="2400" dirty="0" smtClean="0"/>
              <a:t>рассмотреть </a:t>
            </a:r>
            <a:r>
              <a:rPr lang="ru-RU" sz="2400" dirty="0"/>
              <a:t>существующие метрики оценки качества упрощения;</a:t>
            </a:r>
          </a:p>
          <a:p>
            <a:r>
              <a:rPr lang="ru-RU" sz="2400" dirty="0" smtClean="0"/>
              <a:t>провести </a:t>
            </a:r>
            <a:r>
              <a:rPr lang="ru-RU" sz="2400" dirty="0"/>
              <a:t>анализ существующих решений задачи упрощения текстов;</a:t>
            </a:r>
          </a:p>
          <a:p>
            <a:r>
              <a:rPr lang="ru-RU" sz="2400" dirty="0" smtClean="0"/>
              <a:t>сформулировать </a:t>
            </a:r>
            <a:r>
              <a:rPr lang="ru-RU" sz="2400" dirty="0"/>
              <a:t>критерии выбора решения;</a:t>
            </a:r>
          </a:p>
          <a:p>
            <a:r>
              <a:rPr lang="ru-RU" sz="2400" dirty="0" smtClean="0"/>
              <a:t>на </a:t>
            </a:r>
            <a:r>
              <a:rPr lang="ru-RU" sz="2400" dirty="0"/>
              <a:t>основе этих </a:t>
            </a:r>
            <a:r>
              <a:rPr lang="ru-RU" sz="2400" dirty="0" smtClean="0"/>
              <a:t>критериев </a:t>
            </a:r>
            <a:r>
              <a:rPr lang="ru-RU" sz="2400" dirty="0"/>
              <a:t>провести классификацию решений;</a:t>
            </a:r>
          </a:p>
          <a:p>
            <a:r>
              <a:rPr lang="ru-RU" sz="2400" dirty="0" smtClean="0"/>
              <a:t>определить</a:t>
            </a:r>
            <a:r>
              <a:rPr lang="ru-RU" sz="2400" dirty="0"/>
              <a:t>, какой метод или методы являются лучшими по совокупности критериев.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776995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Термины предметной области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sz="2400" u="sng" dirty="0" smtClean="0"/>
              <a:t>Упрощение предложений</a:t>
            </a:r>
            <a:r>
              <a:rPr lang="ru-RU" sz="2400" dirty="0"/>
              <a:t> — </a:t>
            </a:r>
            <a:r>
              <a:rPr lang="ru-RU" sz="2400" dirty="0" smtClean="0"/>
              <a:t>процесс</a:t>
            </a:r>
            <a:r>
              <a:rPr lang="ru-RU" sz="2400" dirty="0"/>
              <a:t>, целью которого является получение более легкого для чтения и понимания текста за счет уменьшения его лексической и структурной сложности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pPr lvl="1"/>
            <a:r>
              <a:rPr lang="ru-RU" sz="2200" u="sng" dirty="0" smtClean="0"/>
              <a:t>Лексическая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используемых в нем слов (их длина или частотность </a:t>
            </a:r>
            <a:r>
              <a:rPr lang="ru-RU" sz="2200" dirty="0" smtClean="0"/>
              <a:t>употребления).</a:t>
            </a:r>
          </a:p>
          <a:p>
            <a:pPr lvl="1"/>
            <a:r>
              <a:rPr lang="ru-RU" sz="2200" u="sng" dirty="0" smtClean="0"/>
              <a:t>Структурная сложность </a:t>
            </a:r>
            <a:r>
              <a:rPr lang="ru-RU" sz="2200" dirty="0" smtClean="0"/>
              <a:t>– сложность текста с </a:t>
            </a:r>
            <a:r>
              <a:rPr lang="ru-RU" sz="2200" dirty="0"/>
              <a:t>точки зрения сложности грамматики его предложений (количество простых предложений в составе сложного, наличие сравнительных, причастных и деепричастных оборотов и т. д</a:t>
            </a:r>
            <a:r>
              <a:rPr lang="ru-RU" sz="2200" dirty="0" smtClean="0"/>
              <a:t>.).</a:t>
            </a:r>
            <a:endParaRPr lang="ru-RU" sz="2200" dirty="0"/>
          </a:p>
        </p:txBody>
      </p:sp>
    </p:spTree>
    <p:extLst>
      <p:ext uri="{BB962C8B-B14F-4D97-AF65-F5344CB8AC3E}">
        <p14:creationId xmlns:p14="http://schemas.microsoft.com/office/powerpoint/2010/main" val="22845019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4800" b="1" dirty="0" smtClean="0"/>
              <a:t>Метрики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86684" y="2043891"/>
            <a:ext cx="10082048" cy="5065987"/>
          </a:xfrm>
        </p:spPr>
        <p:txBody>
          <a:bodyPr>
            <a:normAutofit/>
          </a:bodyPr>
          <a:lstStyle/>
          <a:p>
            <a:r>
              <a:rPr lang="ru-RU" sz="2400" dirty="0"/>
              <a:t>Индексы </a:t>
            </a:r>
            <a:r>
              <a:rPr lang="ru-RU" sz="2400" dirty="0" smtClean="0"/>
              <a:t>удобочитаемости</a:t>
            </a:r>
          </a:p>
          <a:p>
            <a:r>
              <a:rPr lang="en-US" sz="2400" dirty="0" smtClean="0"/>
              <a:t>SARI</a:t>
            </a:r>
            <a:r>
              <a:rPr lang="ru-RU" sz="2400" dirty="0" smtClean="0"/>
              <a:t> (</a:t>
            </a:r>
            <a:r>
              <a:rPr lang="en-US" sz="2400" dirty="0"/>
              <a:t>S</a:t>
            </a:r>
            <a:r>
              <a:rPr lang="en-US" sz="2400" dirty="0" smtClean="0"/>
              <a:t>ystem </a:t>
            </a:r>
            <a:r>
              <a:rPr lang="en-US" sz="2400" dirty="0"/>
              <a:t>output A</a:t>
            </a:r>
            <a:r>
              <a:rPr lang="en-US" sz="2400" dirty="0" smtClean="0"/>
              <a:t>gainst References </a:t>
            </a:r>
            <a:r>
              <a:rPr lang="en-US" sz="2400" dirty="0"/>
              <a:t>and against the </a:t>
            </a:r>
            <a:r>
              <a:rPr lang="en-US" sz="2400" dirty="0" smtClean="0"/>
              <a:t>Input sentence</a:t>
            </a:r>
            <a:r>
              <a:rPr lang="ru-RU" sz="2400" dirty="0" smtClean="0"/>
              <a:t>)</a:t>
            </a:r>
          </a:p>
          <a:p>
            <a:r>
              <a:rPr lang="en-US" sz="2400" dirty="0"/>
              <a:t>SAMSA </a:t>
            </a:r>
            <a:r>
              <a:rPr lang="en-US" sz="2400" dirty="0" smtClean="0"/>
              <a:t>(Simplification Automatic </a:t>
            </a:r>
            <a:r>
              <a:rPr lang="en-US" sz="2400" dirty="0"/>
              <a:t>evaluation </a:t>
            </a:r>
            <a:r>
              <a:rPr lang="en-US" sz="2400" dirty="0" smtClean="0"/>
              <a:t>Measure </a:t>
            </a:r>
            <a:r>
              <a:rPr lang="en-US" sz="2400" dirty="0"/>
              <a:t>through </a:t>
            </a:r>
            <a:r>
              <a:rPr lang="en-US" sz="2400" dirty="0" smtClean="0"/>
              <a:t>Semantic </a:t>
            </a:r>
            <a:r>
              <a:rPr lang="en-US" sz="2400" dirty="0"/>
              <a:t>A</a:t>
            </a:r>
            <a:r>
              <a:rPr lang="en-US" sz="2400" dirty="0" smtClean="0"/>
              <a:t>nnotation)</a:t>
            </a:r>
            <a:endParaRPr lang="ru-RU" sz="2400" dirty="0"/>
          </a:p>
          <a:p>
            <a:endParaRPr lang="ru-RU" sz="2400" dirty="0" smtClean="0"/>
          </a:p>
          <a:p>
            <a:pPr marL="0" indent="0">
              <a:buNone/>
            </a:pP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3919321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Критерии</a:t>
            </a:r>
            <a:endParaRPr lang="ru-RU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96154"/>
            <a:ext cx="10111007" cy="435133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Понимание задачи: в узком или широком смысле</a:t>
            </a:r>
          </a:p>
          <a:p>
            <a:r>
              <a:rPr lang="ru-RU" sz="2400" dirty="0" smtClean="0"/>
              <a:t>Учет двух составляющих «простоты»:</a:t>
            </a:r>
          </a:p>
          <a:p>
            <a:pPr lvl="1"/>
            <a:r>
              <a:rPr lang="ru-RU" sz="2200" dirty="0" smtClean="0"/>
              <a:t>лексической </a:t>
            </a:r>
          </a:p>
          <a:p>
            <a:pPr lvl="1"/>
            <a:r>
              <a:rPr lang="ru-RU" sz="2200" dirty="0" smtClean="0"/>
              <a:t>структурной</a:t>
            </a:r>
            <a:endParaRPr lang="ru-RU" sz="2200" dirty="0" smtClean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6905296" y="215462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418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Классификация</a:t>
            </a:r>
            <a:r>
              <a:rPr lang="ru-RU" b="1" dirty="0" smtClean="0"/>
              <a:t> </a:t>
            </a:r>
            <a:r>
              <a:rPr lang="ru-RU" sz="4800" b="1" dirty="0" smtClean="0"/>
              <a:t>решений</a:t>
            </a:r>
            <a:endParaRPr lang="ru-RU" dirty="0"/>
          </a:p>
        </p:txBody>
      </p:sp>
      <p:pic>
        <p:nvPicPr>
          <p:cNvPr id="10" name="Объект 9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2862" y="1825625"/>
            <a:ext cx="814627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339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ru-RU" sz="4800" b="1" dirty="0" smtClean="0"/>
              <a:t>Дополнительные показатели для отбора данных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2076763"/>
            <a:ext cx="10515600" cy="4351338"/>
          </a:xfrm>
        </p:spPr>
        <p:txBody>
          <a:bodyPr>
            <a:normAutofit/>
          </a:bodyPr>
          <a:lstStyle/>
          <a:p>
            <a:r>
              <a:rPr lang="ru-RU" sz="2400" dirty="0" smtClean="0"/>
              <a:t>Лексическая сложность</a:t>
            </a:r>
          </a:p>
          <a:p>
            <a:r>
              <a:rPr lang="ru-RU" sz="2400" dirty="0" smtClean="0"/>
              <a:t>Глубина </a:t>
            </a:r>
            <a:r>
              <a:rPr lang="ru-RU" sz="2400" dirty="0"/>
              <a:t>дерева зависимостей </a:t>
            </a:r>
            <a:endParaRPr lang="ru-RU" sz="2400" dirty="0" smtClean="0"/>
          </a:p>
          <a:p>
            <a:r>
              <a:rPr lang="ru-RU" sz="2400" dirty="0" smtClean="0"/>
              <a:t>Длина предложений</a:t>
            </a:r>
          </a:p>
          <a:p>
            <a:r>
              <a:rPr lang="ru-RU" sz="2400" dirty="0" smtClean="0"/>
              <a:t>Легкость </a:t>
            </a:r>
            <a:r>
              <a:rPr lang="ru-RU" sz="2400" dirty="0"/>
              <a:t>чтения </a:t>
            </a:r>
            <a:endParaRPr lang="ru-RU" sz="2400" dirty="0" smtClean="0"/>
          </a:p>
          <a:p>
            <a:r>
              <a:rPr lang="ru-RU" sz="2400" dirty="0" smtClean="0"/>
              <a:t>Косинусное сходство </a:t>
            </a:r>
          </a:p>
          <a:p>
            <a:r>
              <a:rPr lang="ru-RU" sz="2400" dirty="0"/>
              <a:t>С</a:t>
            </a:r>
            <a:r>
              <a:rPr lang="ru-RU" sz="2400" dirty="0" smtClean="0"/>
              <a:t>охранения </a:t>
            </a:r>
            <a:r>
              <a:rPr lang="ru-RU" sz="2400" dirty="0"/>
              <a:t>именованных </a:t>
            </a:r>
            <a:r>
              <a:rPr lang="ru-RU" sz="2400" dirty="0" smtClean="0"/>
              <a:t>сущностей</a:t>
            </a:r>
          </a:p>
          <a:p>
            <a:r>
              <a:rPr lang="ru-RU" sz="2400" dirty="0" smtClean="0"/>
              <a:t>ROUGE-L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4170243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4800" b="1" dirty="0" smtClean="0"/>
              <a:t>Выводы</a:t>
            </a:r>
            <a:endParaRPr lang="ru-RU" sz="4800" b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997482"/>
            <a:ext cx="10515600" cy="4782207"/>
          </a:xfrm>
        </p:spPr>
        <p:txBody>
          <a:bodyPr>
            <a:noAutofit/>
          </a:bodyPr>
          <a:lstStyle/>
          <a:p>
            <a:r>
              <a:rPr lang="ru-RU" sz="2400" dirty="0" smtClean="0"/>
              <a:t>Проведен </a:t>
            </a:r>
            <a:r>
              <a:rPr lang="ru-RU" sz="2400" dirty="0"/>
              <a:t>анализ предметной </a:t>
            </a:r>
            <a:r>
              <a:rPr lang="ru-RU" sz="2400" dirty="0" smtClean="0"/>
              <a:t>области.</a:t>
            </a:r>
            <a:endParaRPr lang="ru-RU" sz="2400" dirty="0"/>
          </a:p>
          <a:p>
            <a:r>
              <a:rPr lang="ru-RU" sz="2400" dirty="0" smtClean="0"/>
              <a:t>Рассмотрены </a:t>
            </a:r>
            <a:r>
              <a:rPr lang="ru-RU" sz="2400" dirty="0"/>
              <a:t>существующие метрики оценки качества </a:t>
            </a:r>
            <a:r>
              <a:rPr lang="ru-RU" sz="2400" dirty="0" smtClean="0"/>
              <a:t>упрощения.</a:t>
            </a:r>
          </a:p>
          <a:p>
            <a:r>
              <a:rPr lang="ru-RU" sz="2400" dirty="0"/>
              <a:t>Сформулированы критерии выбора </a:t>
            </a:r>
            <a:r>
              <a:rPr lang="ru-RU" sz="2400" dirty="0" smtClean="0"/>
              <a:t>решения </a:t>
            </a:r>
            <a:r>
              <a:rPr lang="ru-RU" sz="2400" dirty="0"/>
              <a:t>задачи упрощения </a:t>
            </a:r>
            <a:r>
              <a:rPr lang="ru-RU" sz="2400" dirty="0" smtClean="0"/>
              <a:t>текстов.</a:t>
            </a:r>
            <a:endParaRPr lang="ru-RU" sz="2400" dirty="0"/>
          </a:p>
          <a:p>
            <a:r>
              <a:rPr lang="ru-RU" sz="2400" dirty="0" smtClean="0"/>
              <a:t>Проведены </a:t>
            </a:r>
            <a:r>
              <a:rPr lang="ru-RU" sz="2400" dirty="0"/>
              <a:t>анализ </a:t>
            </a:r>
            <a:r>
              <a:rPr lang="ru-RU" sz="2400" dirty="0" smtClean="0"/>
              <a:t>и классификация существующих решений</a:t>
            </a:r>
            <a:endParaRPr lang="ru-RU" sz="2400" dirty="0"/>
          </a:p>
          <a:p>
            <a:r>
              <a:rPr lang="ru-RU" sz="2400" dirty="0" smtClean="0"/>
              <a:t>Выбран наиболее подходящий метод.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1469313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2205</TotalTime>
  <Words>186</Words>
  <Application>Microsoft Office PowerPoint</Application>
  <PresentationFormat>Широкоэкранный</PresentationFormat>
  <Paragraphs>42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2" baseType="lpstr">
      <vt:lpstr>Arial</vt:lpstr>
      <vt:lpstr>Calibri</vt:lpstr>
      <vt:lpstr>Calibri Light</vt:lpstr>
      <vt:lpstr>Тема Office</vt:lpstr>
      <vt:lpstr>Упрощение текстов</vt:lpstr>
      <vt:lpstr>Цели и задачи</vt:lpstr>
      <vt:lpstr>Термины предметной области</vt:lpstr>
      <vt:lpstr>Метрики</vt:lpstr>
      <vt:lpstr>Критерии</vt:lpstr>
      <vt:lpstr>Классификация решений</vt:lpstr>
      <vt:lpstr>Дополнительные показатели для отбора данных</vt:lpstr>
      <vt:lpstr>Выводы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Трехмерная визуализация вращения флюгера </dc:title>
  <dc:creator>Учетная запись Майкрософт</dc:creator>
  <cp:lastModifiedBy>Учетная запись Майкрософт</cp:lastModifiedBy>
  <cp:revision>26</cp:revision>
  <dcterms:created xsi:type="dcterms:W3CDTF">2021-12-04T21:28:34Z</dcterms:created>
  <dcterms:modified xsi:type="dcterms:W3CDTF">2022-01-17T12:42:12Z</dcterms:modified>
</cp:coreProperties>
</file>