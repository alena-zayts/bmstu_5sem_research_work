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3" r:id="rId4"/>
    <p:sldId id="259" r:id="rId5"/>
    <p:sldId id="258" r:id="rId6"/>
    <p:sldId id="264" r:id="rId7"/>
    <p:sldId id="265" r:id="rId8"/>
    <p:sldId id="260" r:id="rId9"/>
    <p:sldId id="261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2" y="3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A07D0-C713-4707-B7B7-05ADC177FCCD}" type="datetimeFigureOut">
              <a:rPr lang="ru-RU" smtClean="0"/>
              <a:t>18.01.2022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94E148-E371-465A-ABF5-79AB384C55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6347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94E148-E371-465A-ABF5-79AB384C559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539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94E148-E371-465A-ABF5-79AB384C559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7439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94E148-E371-465A-ABF5-79AB384C559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2035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F1424-BF33-42F3-A30D-91F0737B447B}" type="datetime1">
              <a:rPr lang="ru-RU" smtClean="0"/>
              <a:t>18.01.2022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0288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461C9-F680-4D34-8AC6-1C4636D68AAB}" type="datetime1">
              <a:rPr lang="ru-RU" smtClean="0"/>
              <a:t>18.01.2022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451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6B232-A6E4-4651-B2E3-A5074C50621C}" type="datetime1">
              <a:rPr lang="ru-RU" smtClean="0"/>
              <a:t>18.01.2022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849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33D1C-9CE1-4173-8304-3590869F898E}" type="datetime1">
              <a:rPr lang="ru-RU" smtClean="0"/>
              <a:t>18.01.2022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1721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C9917-FCF4-4A64-B29D-91F3B09267A6}" type="datetime1">
              <a:rPr lang="ru-RU" smtClean="0"/>
              <a:t>18.01.2022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2142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1C29A-DE89-40AB-AED4-4B08A519556E}" type="datetime1">
              <a:rPr lang="ru-RU" smtClean="0"/>
              <a:t>18.01.2022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8863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A49BF-2CF3-48BD-B5C2-DD2B8F5F039E}" type="datetime1">
              <a:rPr lang="ru-RU" smtClean="0"/>
              <a:t>18.01.2022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953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30006-1FF7-4DDE-8084-5F750633F0D3}" type="datetime1">
              <a:rPr lang="ru-RU" smtClean="0"/>
              <a:t>18.01.2022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8262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34A2-7BD2-41A4-B113-C9D38292C2BF}" type="datetime1">
              <a:rPr lang="ru-RU" smtClean="0"/>
              <a:t>18.01.2022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5431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605EF-BFAB-4F54-A4CF-190CCB9DC126}" type="datetime1">
              <a:rPr lang="ru-RU" smtClean="0"/>
              <a:t>18.01.2022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7364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ACFB2-144D-4BB0-9036-108ABC8679EA}" type="datetime1">
              <a:rPr lang="ru-RU" smtClean="0"/>
              <a:t>18.01.2022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36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0D0DB-7691-42E8-A941-E902139442F2}" type="datetime1">
              <a:rPr lang="ru-RU" smtClean="0"/>
              <a:t>18.01.2022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105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3999" y="381827"/>
            <a:ext cx="9144000" cy="2387600"/>
          </a:xfrm>
        </p:spPr>
        <p:txBody>
          <a:bodyPr/>
          <a:lstStyle/>
          <a:p>
            <a:r>
              <a:rPr lang="ru-RU" b="1" dirty="0" smtClean="0"/>
              <a:t>Упрощение текстов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3999" y="4229539"/>
            <a:ext cx="9144000" cy="1655762"/>
          </a:xfrm>
        </p:spPr>
        <p:txBody>
          <a:bodyPr/>
          <a:lstStyle/>
          <a:p>
            <a:pPr algn="r"/>
            <a:r>
              <a:rPr lang="ru-RU" dirty="0" smtClean="0"/>
              <a:t>Студент: Зайцева А. А., ИУ7-52Б</a:t>
            </a:r>
          </a:p>
          <a:p>
            <a:pPr algn="r"/>
            <a:r>
              <a:rPr lang="ru-RU" dirty="0" smtClean="0"/>
              <a:t>Руководитель: </a:t>
            </a:r>
            <a:r>
              <a:rPr lang="ru-RU" dirty="0" err="1" smtClean="0"/>
              <a:t>Кивва</a:t>
            </a:r>
            <a:r>
              <a:rPr lang="ru-RU" dirty="0" smtClean="0"/>
              <a:t> </a:t>
            </a:r>
            <a:r>
              <a:rPr lang="ru-RU" dirty="0"/>
              <a:t>К</a:t>
            </a:r>
            <a:r>
              <a:rPr lang="ru-RU" dirty="0" smtClean="0"/>
              <a:t>. </a:t>
            </a:r>
            <a:r>
              <a:rPr lang="ru-RU" dirty="0"/>
              <a:t>А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4151586" y="5948855"/>
            <a:ext cx="3888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Москва, </a:t>
            </a:r>
            <a:r>
              <a:rPr lang="ru-RU" sz="2000" dirty="0" smtClean="0"/>
              <a:t>2022 </a:t>
            </a:r>
            <a:r>
              <a:rPr lang="ru-RU" sz="2000" dirty="0" smtClean="0"/>
              <a:t>г.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834969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 smtClean="0"/>
              <a:t>Цели и задачи</a:t>
            </a:r>
            <a:endParaRPr lang="ru-RU" sz="4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66040"/>
            <a:ext cx="10515600" cy="47822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 smtClean="0"/>
              <a:t>Цель: выбрать метод, </a:t>
            </a:r>
            <a:r>
              <a:rPr lang="ru-RU" sz="2400" dirty="0"/>
              <a:t>который наиболее полно решает задачу упрощения </a:t>
            </a:r>
            <a:r>
              <a:rPr lang="ru-RU" sz="2400" dirty="0" smtClean="0"/>
              <a:t>текстов.</a:t>
            </a:r>
          </a:p>
          <a:p>
            <a:pPr marL="0" indent="0">
              <a:buNone/>
            </a:pPr>
            <a:r>
              <a:rPr lang="ru-RU" sz="2400" dirty="0" smtClean="0"/>
              <a:t>Задачи: </a:t>
            </a:r>
          </a:p>
          <a:p>
            <a:r>
              <a:rPr lang="ru-RU" sz="2400" dirty="0" smtClean="0"/>
              <a:t>провести </a:t>
            </a:r>
            <a:r>
              <a:rPr lang="ru-RU" sz="2400" dirty="0"/>
              <a:t>анализ предметной области;</a:t>
            </a:r>
          </a:p>
          <a:p>
            <a:r>
              <a:rPr lang="ru-RU" sz="2400" dirty="0" smtClean="0"/>
              <a:t>рассмотреть </a:t>
            </a:r>
            <a:r>
              <a:rPr lang="ru-RU" sz="2400" dirty="0"/>
              <a:t>существующие метрики оценки качества упрощения;</a:t>
            </a:r>
          </a:p>
          <a:p>
            <a:r>
              <a:rPr lang="ru-RU" sz="2400" dirty="0" smtClean="0"/>
              <a:t>провести </a:t>
            </a:r>
            <a:r>
              <a:rPr lang="ru-RU" sz="2400" dirty="0"/>
              <a:t>анализ существующих решений задачи упрощения текстов;</a:t>
            </a:r>
          </a:p>
          <a:p>
            <a:r>
              <a:rPr lang="ru-RU" sz="2400" dirty="0" smtClean="0"/>
              <a:t>сформулировать </a:t>
            </a:r>
            <a:r>
              <a:rPr lang="ru-RU" sz="2400" dirty="0"/>
              <a:t>критерии выбора решения;</a:t>
            </a:r>
          </a:p>
          <a:p>
            <a:r>
              <a:rPr lang="ru-RU" sz="2400" dirty="0" smtClean="0"/>
              <a:t>на </a:t>
            </a:r>
            <a:r>
              <a:rPr lang="ru-RU" sz="2400" dirty="0"/>
              <a:t>основе этих </a:t>
            </a:r>
            <a:r>
              <a:rPr lang="ru-RU" sz="2400" dirty="0" smtClean="0"/>
              <a:t>критериев </a:t>
            </a:r>
            <a:r>
              <a:rPr lang="ru-RU" sz="2400" dirty="0"/>
              <a:t>провести классификацию решений;</a:t>
            </a:r>
          </a:p>
          <a:p>
            <a:r>
              <a:rPr lang="ru-RU" sz="2400" dirty="0" smtClean="0"/>
              <a:t>определить</a:t>
            </a:r>
            <a:r>
              <a:rPr lang="ru-RU" sz="2400" dirty="0"/>
              <a:t>, какой метод или методы являются лучшими по совокупности критериев.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z="1600" smtClean="0"/>
              <a:t>2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776995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 smtClean="0"/>
              <a:t>Термины предметной области</a:t>
            </a:r>
            <a:endParaRPr lang="ru-RU" sz="4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9806189" cy="4351338"/>
          </a:xfrm>
        </p:spPr>
        <p:txBody>
          <a:bodyPr/>
          <a:lstStyle/>
          <a:p>
            <a:r>
              <a:rPr lang="ru-RU" sz="2400" u="sng" dirty="0" smtClean="0"/>
              <a:t>Упрощение предложений</a:t>
            </a:r>
            <a:r>
              <a:rPr lang="ru-RU" sz="2400" dirty="0"/>
              <a:t> — </a:t>
            </a:r>
            <a:r>
              <a:rPr lang="ru-RU" sz="2400" dirty="0" smtClean="0"/>
              <a:t>процесс</a:t>
            </a:r>
            <a:r>
              <a:rPr lang="ru-RU" sz="2400" dirty="0"/>
              <a:t>, целью которого является получение более легкого для чтения и понимания текста за счет уменьшения его лексической и структурной сложности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pPr lvl="1"/>
            <a:r>
              <a:rPr lang="ru-RU" sz="2200" u="sng" dirty="0" smtClean="0"/>
              <a:t>Лексическая сложность </a:t>
            </a:r>
            <a:r>
              <a:rPr lang="ru-RU" sz="2200" dirty="0" smtClean="0"/>
              <a:t>– сложность текста с </a:t>
            </a:r>
            <a:r>
              <a:rPr lang="ru-RU" sz="2200" dirty="0"/>
              <a:t>точки зрения используемых в нем слов (их длина или частотность </a:t>
            </a:r>
            <a:r>
              <a:rPr lang="ru-RU" sz="2200" dirty="0" smtClean="0"/>
              <a:t>употребления).</a:t>
            </a:r>
          </a:p>
          <a:p>
            <a:pPr lvl="1"/>
            <a:r>
              <a:rPr lang="ru-RU" sz="2200" u="sng" dirty="0" smtClean="0"/>
              <a:t>Структурная сложность </a:t>
            </a:r>
            <a:r>
              <a:rPr lang="ru-RU" sz="2200" dirty="0" smtClean="0"/>
              <a:t>– сложность текста с </a:t>
            </a:r>
            <a:r>
              <a:rPr lang="ru-RU" sz="2200" dirty="0"/>
              <a:t>точки зрения сложности грамматики его предложений (количество простых предложений в составе сложного, наличие сравнительных, причастных и деепричастных оборотов и </a:t>
            </a:r>
            <a:r>
              <a:rPr lang="ru-RU" sz="2200" dirty="0" smtClean="0"/>
              <a:t>т</a:t>
            </a:r>
            <a:r>
              <a:rPr lang="ru-RU" sz="2200" dirty="0"/>
              <a:t>. д</a:t>
            </a:r>
            <a:r>
              <a:rPr lang="ru-RU" sz="2200" dirty="0" smtClean="0"/>
              <a:t>.).</a:t>
            </a:r>
            <a:endParaRPr lang="ru-RU" sz="2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z="1600" smtClean="0"/>
              <a:t>3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284501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800" b="1" dirty="0" smtClean="0"/>
              <a:t>Критерии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90688"/>
            <a:ext cx="10111007" cy="4556804"/>
          </a:xfrm>
        </p:spPr>
        <p:txBody>
          <a:bodyPr>
            <a:normAutofit lnSpcReduction="10000"/>
          </a:bodyPr>
          <a:lstStyle/>
          <a:p>
            <a:r>
              <a:rPr lang="ru-RU" sz="2400" dirty="0" smtClean="0"/>
              <a:t>Понимание задачи: </a:t>
            </a:r>
            <a:endParaRPr lang="en-US" sz="2400" dirty="0" smtClean="0"/>
          </a:p>
          <a:p>
            <a:pPr lvl="1"/>
            <a:r>
              <a:rPr lang="ru-RU" sz="2000" dirty="0" smtClean="0"/>
              <a:t>в </a:t>
            </a:r>
            <a:r>
              <a:rPr lang="ru-RU" sz="2000" dirty="0" smtClean="0"/>
              <a:t>узком </a:t>
            </a:r>
            <a:r>
              <a:rPr lang="ru-RU" sz="2000" dirty="0"/>
              <a:t>смысле </a:t>
            </a:r>
            <a:r>
              <a:rPr lang="ru-RU" sz="2000" dirty="0" smtClean="0"/>
              <a:t>(как процесс</a:t>
            </a:r>
            <a:r>
              <a:rPr lang="ru-RU" sz="2000" dirty="0"/>
              <a:t>, целью которого является получение более легкого для чтения и понимания текста за счет уменьшения его лексической и структурной </a:t>
            </a:r>
            <a:r>
              <a:rPr lang="ru-RU" sz="2000" dirty="0" smtClean="0"/>
              <a:t>сложности)</a:t>
            </a:r>
            <a:r>
              <a:rPr lang="en-US" sz="2000" dirty="0" smtClean="0"/>
              <a:t>;</a:t>
            </a:r>
            <a:endParaRPr lang="en-US" sz="2000" dirty="0" smtClean="0"/>
          </a:p>
          <a:p>
            <a:pPr lvl="1"/>
            <a:r>
              <a:rPr lang="ru-RU" sz="2000" dirty="0" smtClean="0"/>
              <a:t>широком смысле (как процесс, </a:t>
            </a:r>
            <a:r>
              <a:rPr lang="ru-RU" sz="2000" dirty="0" smtClean="0"/>
              <a:t>охватывающий </a:t>
            </a:r>
            <a:r>
              <a:rPr lang="ru-RU" sz="2000" dirty="0"/>
              <a:t>и другие </a:t>
            </a:r>
            <a:r>
              <a:rPr lang="ru-RU" sz="2000" dirty="0" smtClean="0"/>
              <a:t>операции</a:t>
            </a:r>
            <a:r>
              <a:rPr lang="ru-RU" sz="2000" dirty="0"/>
              <a:t>: смысловое изменение для упрощения как формы, так и </a:t>
            </a:r>
            <a:r>
              <a:rPr lang="ru-RU" sz="2000" dirty="0" smtClean="0"/>
              <a:t>содержания</a:t>
            </a:r>
            <a:r>
              <a:rPr lang="ru-RU" sz="2000" dirty="0"/>
              <a:t>; краткое изложение текста для исключения второстепенной или избыточной </a:t>
            </a:r>
            <a:r>
              <a:rPr lang="ru-RU" sz="2000" dirty="0" smtClean="0"/>
              <a:t>информации)</a:t>
            </a:r>
            <a:r>
              <a:rPr lang="en-US" sz="2000" dirty="0" smtClean="0"/>
              <a:t>.</a:t>
            </a:r>
            <a:endParaRPr lang="ru-RU" sz="2000" dirty="0" smtClean="0"/>
          </a:p>
          <a:p>
            <a:r>
              <a:rPr lang="ru-RU" sz="2400" dirty="0" smtClean="0"/>
              <a:t>Учет двух составляющих «простоты</a:t>
            </a:r>
            <a:r>
              <a:rPr lang="ru-RU" sz="2400" dirty="0" smtClean="0"/>
              <a:t>»:</a:t>
            </a:r>
            <a:endParaRPr lang="ru-RU" sz="2400" dirty="0" smtClean="0"/>
          </a:p>
          <a:p>
            <a:pPr lvl="1"/>
            <a:r>
              <a:rPr lang="ru-RU" sz="2200" dirty="0" smtClean="0"/>
              <a:t>лексической </a:t>
            </a:r>
            <a:r>
              <a:rPr lang="en-US" sz="2200" dirty="0" smtClean="0"/>
              <a:t>- </a:t>
            </a:r>
            <a:endParaRPr lang="ru-RU" sz="2200" dirty="0" smtClean="0"/>
          </a:p>
          <a:p>
            <a:pPr lvl="2"/>
            <a:r>
              <a:rPr lang="ru-RU" dirty="0" smtClean="0"/>
              <a:t>«</a:t>
            </a:r>
            <a:r>
              <a:rPr lang="en-US" dirty="0" smtClean="0"/>
              <a:t>c</a:t>
            </a:r>
            <a:r>
              <a:rPr lang="ru-RU" dirty="0" smtClean="0"/>
              <a:t>ложное» предложение: «Около </a:t>
            </a:r>
            <a:r>
              <a:rPr lang="ru-RU" dirty="0"/>
              <a:t>5 способов предварительно </a:t>
            </a:r>
            <a:r>
              <a:rPr lang="ru-RU" dirty="0" smtClean="0"/>
              <a:t>апробированы.»</a:t>
            </a:r>
            <a:r>
              <a:rPr lang="en-US" dirty="0" smtClean="0"/>
              <a:t>;</a:t>
            </a:r>
            <a:endParaRPr lang="ru-RU" dirty="0" smtClean="0"/>
          </a:p>
          <a:p>
            <a:pPr lvl="2"/>
            <a:r>
              <a:rPr lang="ru-RU" dirty="0" smtClean="0"/>
              <a:t>упрощенное предложение: «Около 5 способов заранее проверены.»</a:t>
            </a:r>
            <a:r>
              <a:rPr lang="en-US" dirty="0" smtClean="0"/>
              <a:t>;</a:t>
            </a:r>
            <a:endParaRPr lang="ru-RU" dirty="0" smtClean="0"/>
          </a:p>
          <a:p>
            <a:pPr lvl="1"/>
            <a:r>
              <a:rPr lang="ru-RU" sz="2200" dirty="0" smtClean="0"/>
              <a:t>с</a:t>
            </a:r>
            <a:r>
              <a:rPr lang="ru-RU" sz="2200" dirty="0" smtClean="0"/>
              <a:t>труктурной</a:t>
            </a:r>
            <a:r>
              <a:rPr lang="en-US" sz="2200" dirty="0" smtClean="0"/>
              <a:t> - </a:t>
            </a:r>
            <a:endParaRPr lang="ru-RU" sz="2200" dirty="0" smtClean="0"/>
          </a:p>
          <a:p>
            <a:pPr lvl="2"/>
            <a:r>
              <a:rPr lang="ru-RU" dirty="0" smtClean="0"/>
              <a:t>«</a:t>
            </a:r>
            <a:r>
              <a:rPr lang="ru-RU" dirty="0"/>
              <a:t>с</a:t>
            </a:r>
            <a:r>
              <a:rPr lang="ru-RU" dirty="0" smtClean="0"/>
              <a:t>ложное</a:t>
            </a:r>
            <a:r>
              <a:rPr lang="ru-RU" dirty="0"/>
              <a:t>» предложение: </a:t>
            </a:r>
            <a:r>
              <a:rPr lang="ru-RU" dirty="0" smtClean="0"/>
              <a:t>«Листок, сорванный Петей, упал на землю.»</a:t>
            </a:r>
            <a:r>
              <a:rPr lang="en-US" dirty="0" smtClean="0"/>
              <a:t>;</a:t>
            </a:r>
            <a:endParaRPr lang="ru-RU" dirty="0"/>
          </a:p>
          <a:p>
            <a:pPr lvl="2"/>
            <a:r>
              <a:rPr lang="ru-RU" dirty="0"/>
              <a:t>у</a:t>
            </a:r>
            <a:r>
              <a:rPr lang="ru-RU" dirty="0" smtClean="0"/>
              <a:t>прощенное </a:t>
            </a:r>
            <a:r>
              <a:rPr lang="ru-RU" dirty="0"/>
              <a:t>предложение: </a:t>
            </a:r>
            <a:r>
              <a:rPr lang="ru-RU" dirty="0" smtClean="0"/>
              <a:t>«Петя сорвал листок. Листок упал </a:t>
            </a:r>
            <a:r>
              <a:rPr lang="ru-RU" dirty="0"/>
              <a:t>на землю</a:t>
            </a:r>
            <a:r>
              <a:rPr lang="ru-RU" dirty="0" smtClean="0"/>
              <a:t>.».</a:t>
            </a:r>
            <a:endParaRPr lang="ru-RU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905296" y="215462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z="1600" smtClean="0"/>
              <a:t>4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542418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 smtClean="0"/>
              <a:t>Метрики</a:t>
            </a:r>
            <a:endParaRPr lang="ru-RU" sz="4800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z="1600" smtClean="0"/>
              <a:t>5</a:t>
            </a:fld>
            <a:endParaRPr lang="ru-RU" sz="1600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548464"/>
              </p:ext>
            </p:extLst>
          </p:nvPr>
        </p:nvGraphicFramePr>
        <p:xfrm>
          <a:off x="415159" y="1543542"/>
          <a:ext cx="11361681" cy="4727059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613338"/>
                <a:gridCol w="4908331"/>
                <a:gridCol w="4840012"/>
              </a:tblGrid>
              <a:tr h="625244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Название метрики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Достоинства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Недостатки</a:t>
                      </a:r>
                      <a:endParaRPr lang="ru-RU" sz="1800" dirty="0"/>
                    </a:p>
                  </a:txBody>
                  <a:tcPr/>
                </a:tc>
              </a:tr>
              <a:tr h="1165228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Индексы </a:t>
                      </a:r>
                      <a:r>
                        <a:rPr lang="ru-RU" sz="1800" dirty="0" err="1" smtClean="0"/>
                        <a:t>удобо</a:t>
                      </a:r>
                      <a:r>
                        <a:rPr lang="en-US" sz="1800" dirty="0" smtClean="0"/>
                        <a:t>-</a:t>
                      </a:r>
                      <a:r>
                        <a:rPr lang="ru-RU" sz="1800" dirty="0" smtClean="0"/>
                        <a:t>читаемости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800" dirty="0" smtClean="0"/>
                        <a:t>простоты</a:t>
                      </a:r>
                      <a:r>
                        <a:rPr lang="ru-RU" sz="1800" baseline="0" dirty="0" smtClean="0"/>
                        <a:t> в вычислении</a:t>
                      </a:r>
                      <a:r>
                        <a:rPr lang="en-US" sz="1800" baseline="0" dirty="0" smtClean="0"/>
                        <a:t>;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800" dirty="0" smtClean="0"/>
                        <a:t>не распознают грамматически неправильные результаты</a:t>
                      </a:r>
                      <a:r>
                        <a:rPr lang="en-US" sz="1800" dirty="0" smtClean="0"/>
                        <a:t>;</a:t>
                      </a:r>
                      <a:endParaRPr lang="ru-RU" sz="1800" dirty="0" smtClean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800" dirty="0" smtClean="0"/>
                        <a:t>не следят за</a:t>
                      </a:r>
                      <a:r>
                        <a:rPr lang="ru-RU" sz="1800" baseline="0" dirty="0" smtClean="0"/>
                        <a:t> сохранением смысла исходного предложения</a:t>
                      </a:r>
                      <a:r>
                        <a:rPr lang="en-US" sz="1800" baseline="0" dirty="0" smtClean="0"/>
                        <a:t>.</a:t>
                      </a:r>
                      <a:endParaRPr lang="ru-RU" sz="1800" dirty="0"/>
                    </a:p>
                  </a:txBody>
                  <a:tcPr/>
                </a:tc>
              </a:tr>
              <a:tr h="1435219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SARI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800" dirty="0" smtClean="0"/>
                        <a:t>высоко</a:t>
                      </a:r>
                      <a:r>
                        <a:rPr lang="ru-RU" sz="1800" baseline="0" dirty="0" smtClean="0"/>
                        <a:t> </a:t>
                      </a:r>
                      <a:r>
                        <a:rPr lang="ru-RU" sz="1800" dirty="0" smtClean="0"/>
                        <a:t>коррелирует с оценками качества упрощения человеком</a:t>
                      </a:r>
                      <a:r>
                        <a:rPr lang="en-US" sz="1800" dirty="0" smtClean="0"/>
                        <a:t>;</a:t>
                      </a:r>
                      <a:endParaRPr lang="ru-RU" sz="1800" dirty="0" smtClean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800" dirty="0" smtClean="0"/>
                        <a:t>напрямую оценивает</a:t>
                      </a:r>
                      <a:r>
                        <a:rPr lang="ru-RU" sz="1800" baseline="0" dirty="0" smtClean="0"/>
                        <a:t> корректность  выбора слов для </a:t>
                      </a:r>
                      <a:r>
                        <a:rPr lang="ru-RU" sz="1800" dirty="0" smtClean="0"/>
                        <a:t>добавления, удаления и сохранения</a:t>
                      </a:r>
                      <a:r>
                        <a:rPr lang="en-US" sz="1800" dirty="0" smtClean="0"/>
                        <a:t>;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800" dirty="0" smtClean="0"/>
                        <a:t>слабо способна оценивать</a:t>
                      </a:r>
                      <a:r>
                        <a:rPr lang="ru-RU" sz="1800" baseline="0" dirty="0" smtClean="0"/>
                        <a:t> </a:t>
                      </a:r>
                      <a:r>
                        <a:rPr lang="ru-RU" sz="1800" dirty="0" smtClean="0"/>
                        <a:t>структурную сложность</a:t>
                      </a:r>
                      <a:r>
                        <a:rPr lang="en-US" sz="1800" dirty="0" smtClean="0"/>
                        <a:t>;</a:t>
                      </a:r>
                      <a:endParaRPr lang="ru-RU" sz="1800" dirty="0" smtClean="0"/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dirty="0" smtClean="0"/>
                        <a:t>требует нескольких «справочных» примеров упрощения</a:t>
                      </a:r>
                      <a:r>
                        <a:rPr lang="en-US" sz="1800" dirty="0" smtClean="0"/>
                        <a:t>.</a:t>
                      </a:r>
                      <a:endParaRPr lang="ru-RU" sz="1800" dirty="0" smtClean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ru-RU" sz="1800" dirty="0"/>
                    </a:p>
                  </a:txBody>
                  <a:tcPr/>
                </a:tc>
              </a:tr>
              <a:tr h="1435219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SAMSA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dirty="0" smtClean="0"/>
                        <a:t>высоко</a:t>
                      </a:r>
                      <a:r>
                        <a:rPr lang="ru-RU" sz="1800" baseline="0" dirty="0" smtClean="0"/>
                        <a:t> </a:t>
                      </a:r>
                      <a:r>
                        <a:rPr lang="ru-RU" sz="1800" dirty="0" smtClean="0"/>
                        <a:t>коррелирует с оценками качества упрощения человеком</a:t>
                      </a:r>
                      <a:r>
                        <a:rPr lang="en-US" sz="1800" dirty="0" smtClean="0"/>
                        <a:t>;</a:t>
                      </a:r>
                      <a:endParaRPr lang="ru-RU" sz="1800" dirty="0" smtClean="0"/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dirty="0" smtClean="0"/>
                        <a:t>способна оценивать</a:t>
                      </a:r>
                      <a:r>
                        <a:rPr lang="ru-RU" sz="1800" baseline="0" dirty="0" smtClean="0"/>
                        <a:t> </a:t>
                      </a:r>
                      <a:r>
                        <a:rPr lang="ru-RU" sz="1800" dirty="0" smtClean="0"/>
                        <a:t>структурную сложность</a:t>
                      </a:r>
                      <a:r>
                        <a:rPr lang="en-US" sz="1800" dirty="0" smtClean="0"/>
                        <a:t>;</a:t>
                      </a:r>
                      <a:endParaRPr lang="ru-RU" sz="1800" dirty="0" smtClean="0"/>
                    </a:p>
                    <a:p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dirty="0" smtClean="0"/>
                        <a:t>требует нескольких «справочных» примеров упрощения</a:t>
                      </a:r>
                      <a:r>
                        <a:rPr lang="en-US" sz="1800" dirty="0" smtClean="0"/>
                        <a:t>;</a:t>
                      </a:r>
                      <a:endParaRPr lang="ru-RU" sz="1800" dirty="0" smtClean="0"/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dirty="0" smtClean="0"/>
                        <a:t>мало</a:t>
                      </a:r>
                      <a:r>
                        <a:rPr lang="ru-RU" sz="1800" baseline="0" dirty="0" smtClean="0"/>
                        <a:t> изучена</a:t>
                      </a:r>
                      <a:r>
                        <a:rPr lang="en-US" sz="1800" baseline="0" dirty="0" smtClean="0"/>
                        <a:t>.</a:t>
                      </a:r>
                      <a:endParaRPr lang="ru-RU" sz="1800" dirty="0" smtClean="0"/>
                    </a:p>
                    <a:p>
                      <a:endParaRPr lang="ru-RU" sz="18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9321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Подходы к решению задачи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z="1600" smtClean="0"/>
              <a:t>6</a:t>
            </a:fld>
            <a:endParaRPr lang="ru-RU" sz="1600" dirty="0"/>
          </a:p>
        </p:txBody>
      </p:sp>
      <p:graphicFrame>
        <p:nvGraphicFramePr>
          <p:cNvPr id="7" name="Объект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1909774"/>
              </p:ext>
            </p:extLst>
          </p:nvPr>
        </p:nvGraphicFramePr>
        <p:xfrm>
          <a:off x="273269" y="1825625"/>
          <a:ext cx="11666483" cy="4586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0823"/>
                <a:gridCol w="3716833"/>
                <a:gridCol w="3888827"/>
              </a:tblGrid>
              <a:tr h="412301">
                <a:tc>
                  <a:txBody>
                    <a:bodyPr/>
                    <a:lstStyle/>
                    <a:p>
                      <a:pPr algn="ctr"/>
                      <a:r>
                        <a:rPr lang="ru-RU" sz="2200" b="1" u="sng" dirty="0" smtClean="0"/>
                        <a:t>Экстрактивный</a:t>
                      </a:r>
                      <a:r>
                        <a:rPr lang="ru-RU" sz="2200" u="sng" dirty="0" smtClean="0"/>
                        <a:t> </a:t>
                      </a:r>
                      <a:endParaRPr lang="ru-RU" sz="2200" u="sng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2200" b="1" u="sng" dirty="0" smtClean="0"/>
                        <a:t>Абстрактный</a:t>
                      </a:r>
                      <a:endParaRPr lang="ru-RU" sz="2200" b="1" u="sng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1401823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ru-RU" sz="2200" dirty="0" smtClean="0"/>
                        <a:t>Выделение в документе тех предложений, которые передают больше информации.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2200" dirty="0" smtClean="0"/>
                        <a:t>Переписывание передаваемого текста предложение за предложением.</a:t>
                      </a:r>
                      <a:endParaRPr lang="ru-RU" sz="2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655097">
                <a:tc>
                  <a:txBody>
                    <a:bodyPr/>
                    <a:lstStyle/>
                    <a:p>
                      <a:pPr algn="ctr"/>
                      <a:endParaRPr lang="ru-RU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b="0" u="sng" dirty="0" smtClean="0"/>
                        <a:t>Текстовые замены</a:t>
                      </a:r>
                      <a:endParaRPr lang="ru-RU" sz="2200" b="0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u="sng" dirty="0" smtClean="0"/>
                        <a:t>Генерация нового текста</a:t>
                      </a:r>
                      <a:endParaRPr lang="ru-RU" sz="2200" u="sng" dirty="0"/>
                    </a:p>
                  </a:txBody>
                  <a:tcPr/>
                </a:tc>
              </a:tr>
              <a:tr h="2061504">
                <a:tc>
                  <a:txBody>
                    <a:bodyPr/>
                    <a:lstStyle/>
                    <a:p>
                      <a:pPr algn="ctr"/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 smtClean="0"/>
                        <a:t>Фокусировка на сокращении лексического содержания текста.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 smtClean="0"/>
                        <a:t>Разбиение сложных предложений на более простые, удаление редко употребляемых слов и генерация на этой основе нового текста.</a:t>
                      </a:r>
                      <a:endParaRPr lang="ru-RU" sz="22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9" name="Прямая со стрелкой 8"/>
          <p:cNvCxnSpPr/>
          <p:nvPr/>
        </p:nvCxnSpPr>
        <p:spPr>
          <a:xfrm flipH="1">
            <a:off x="2596056" y="1398954"/>
            <a:ext cx="3468682" cy="39831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>
            <a:off x="6064738" y="1398954"/>
            <a:ext cx="2086708" cy="39831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 flipH="1">
            <a:off x="6064738" y="2969846"/>
            <a:ext cx="2032000" cy="7580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>
            <a:off x="8096738" y="2969846"/>
            <a:ext cx="1891324" cy="7580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9629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Генерация нового </a:t>
            </a:r>
            <a:r>
              <a:rPr lang="ru-RU" dirty="0" smtClean="0"/>
              <a:t>текста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6101861" cy="435133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Синтаксическое упрощение - </a:t>
            </a:r>
            <a:r>
              <a:rPr lang="ru-RU" dirty="0" smtClean="0"/>
              <a:t>выявление грамматически </a:t>
            </a:r>
            <a:r>
              <a:rPr lang="ru-RU" dirty="0"/>
              <a:t>сложных частей текста и их переписывание для облегчения </a:t>
            </a:r>
            <a:r>
              <a:rPr lang="ru-RU" dirty="0" smtClean="0"/>
              <a:t>понимания.</a:t>
            </a:r>
          </a:p>
          <a:p>
            <a:r>
              <a:rPr lang="ru-RU" dirty="0"/>
              <a:t>Статистический машинный перевод </a:t>
            </a:r>
            <a:r>
              <a:rPr lang="ru-RU" dirty="0" smtClean="0"/>
              <a:t>- сведение задачи </a:t>
            </a:r>
            <a:r>
              <a:rPr lang="ru-RU" dirty="0"/>
              <a:t>упрощения </a:t>
            </a:r>
            <a:r>
              <a:rPr lang="ru-RU" dirty="0" smtClean="0"/>
              <a:t>к </a:t>
            </a:r>
            <a:r>
              <a:rPr lang="ru-RU" dirty="0"/>
              <a:t>переводу с исходного «сложного» языка на целевой «простой» язык</a:t>
            </a:r>
            <a:r>
              <a:rPr lang="ru-RU" dirty="0" smtClean="0"/>
              <a:t>.</a:t>
            </a:r>
          </a:p>
          <a:p>
            <a:r>
              <a:rPr lang="ru-RU" dirty="0"/>
              <a:t>Использование методов глубокого обучения </a:t>
            </a:r>
            <a:r>
              <a:rPr lang="ru-RU" dirty="0" smtClean="0"/>
              <a:t>– формулировка задачи </a:t>
            </a:r>
            <a:r>
              <a:rPr lang="ru-RU" dirty="0"/>
              <a:t>упрощения </a:t>
            </a:r>
            <a:r>
              <a:rPr lang="ru-RU" dirty="0" smtClean="0"/>
              <a:t>в терминах </a:t>
            </a:r>
            <a:r>
              <a:rPr lang="ru-RU" dirty="0"/>
              <a:t>моделирования seq2seq.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z="1600" smtClean="0"/>
              <a:t>7</a:t>
            </a:fld>
            <a:endParaRPr lang="ru-RU" sz="16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061" y="1932965"/>
            <a:ext cx="4975944" cy="33062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4702" y="5207541"/>
            <a:ext cx="3866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Синтаксическое упрощение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3400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800" b="1" dirty="0" smtClean="0"/>
              <a:t>Классификация</a:t>
            </a:r>
            <a:r>
              <a:rPr lang="ru-RU" b="1" dirty="0" smtClean="0"/>
              <a:t> </a:t>
            </a:r>
            <a:r>
              <a:rPr lang="ru-RU" sz="4800" b="1" dirty="0" smtClean="0"/>
              <a:t>решений</a:t>
            </a:r>
            <a:endParaRPr lang="ru-RU" dirty="0"/>
          </a:p>
        </p:txBody>
      </p:sp>
      <p:pic>
        <p:nvPicPr>
          <p:cNvPr id="10" name="Объект 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2862" y="1364518"/>
            <a:ext cx="7535353" cy="4025014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z="1600" smtClean="0"/>
              <a:t>8</a:t>
            </a:fld>
            <a:endParaRPr lang="ru-RU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1016000" y="5728677"/>
            <a:ext cx="1033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Дополнительные </a:t>
            </a:r>
            <a:r>
              <a:rPr lang="ru-RU" b="1" dirty="0" smtClean="0"/>
              <a:t>показатели: </a:t>
            </a:r>
            <a:r>
              <a:rPr lang="ru-RU" dirty="0"/>
              <a:t>л</a:t>
            </a:r>
            <a:r>
              <a:rPr lang="ru-RU" dirty="0" smtClean="0"/>
              <a:t>ексическая сложность, глубина </a:t>
            </a:r>
            <a:r>
              <a:rPr lang="ru-RU" dirty="0"/>
              <a:t>дерева </a:t>
            </a:r>
            <a:r>
              <a:rPr lang="ru-RU" dirty="0" smtClean="0"/>
              <a:t>зависимостей, длина предложений, легкость чтения,  косинусное сходство, сохранение </a:t>
            </a:r>
            <a:r>
              <a:rPr lang="ru-RU" dirty="0"/>
              <a:t>именованных </a:t>
            </a:r>
            <a:r>
              <a:rPr lang="ru-RU" dirty="0" smtClean="0"/>
              <a:t>сущностей, ROUGE-L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7339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800" b="1" dirty="0" smtClean="0"/>
              <a:t>Заключение</a:t>
            </a:r>
            <a:endParaRPr lang="ru-RU" sz="4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82207"/>
          </a:xfrm>
        </p:spPr>
        <p:txBody>
          <a:bodyPr>
            <a:noAutofit/>
          </a:bodyPr>
          <a:lstStyle/>
          <a:p>
            <a:r>
              <a:rPr lang="ru-RU" sz="2400" dirty="0"/>
              <a:t>п</a:t>
            </a:r>
            <a:r>
              <a:rPr lang="ru-RU" sz="2400" dirty="0" smtClean="0"/>
              <a:t>роведен </a:t>
            </a:r>
            <a:r>
              <a:rPr lang="ru-RU" sz="2400" dirty="0"/>
              <a:t>анализ предметной </a:t>
            </a:r>
            <a:r>
              <a:rPr lang="ru-RU" sz="2400" dirty="0" smtClean="0"/>
              <a:t>области</a:t>
            </a:r>
            <a:r>
              <a:rPr lang="en-US" sz="2400" dirty="0" smtClean="0"/>
              <a:t>;</a:t>
            </a:r>
            <a:endParaRPr lang="ru-RU" sz="2400" dirty="0"/>
          </a:p>
          <a:p>
            <a:r>
              <a:rPr lang="ru-RU" sz="2400" dirty="0" smtClean="0"/>
              <a:t>рассмотрены </a:t>
            </a:r>
            <a:r>
              <a:rPr lang="ru-RU" sz="2400" dirty="0"/>
              <a:t>существующие метрики оценки качества </a:t>
            </a:r>
            <a:r>
              <a:rPr lang="ru-RU" sz="2400" dirty="0" smtClean="0"/>
              <a:t>упрощения</a:t>
            </a:r>
            <a:r>
              <a:rPr lang="en-US" sz="2400" dirty="0" smtClean="0"/>
              <a:t>;</a:t>
            </a:r>
            <a:endParaRPr lang="ru-RU" sz="2400" dirty="0" smtClean="0"/>
          </a:p>
          <a:p>
            <a:r>
              <a:rPr lang="ru-RU" sz="2400" dirty="0"/>
              <a:t>с</a:t>
            </a:r>
            <a:r>
              <a:rPr lang="ru-RU" sz="2400" dirty="0" smtClean="0"/>
              <a:t>формулированы </a:t>
            </a:r>
            <a:r>
              <a:rPr lang="ru-RU" sz="2400" dirty="0"/>
              <a:t>критерии выбора </a:t>
            </a:r>
            <a:r>
              <a:rPr lang="ru-RU" sz="2400" dirty="0" smtClean="0"/>
              <a:t>решения </a:t>
            </a:r>
            <a:r>
              <a:rPr lang="ru-RU" sz="2400" dirty="0"/>
              <a:t>задачи упрощения </a:t>
            </a:r>
            <a:r>
              <a:rPr lang="ru-RU" sz="2400" dirty="0" smtClean="0"/>
              <a:t>текстов</a:t>
            </a:r>
            <a:r>
              <a:rPr lang="en-US" sz="2400" dirty="0" smtClean="0"/>
              <a:t>;</a:t>
            </a:r>
            <a:endParaRPr lang="ru-RU" sz="2400" dirty="0"/>
          </a:p>
          <a:p>
            <a:r>
              <a:rPr lang="ru-RU" sz="2400" dirty="0"/>
              <a:t>п</a:t>
            </a:r>
            <a:r>
              <a:rPr lang="ru-RU" sz="2400" dirty="0" smtClean="0"/>
              <a:t>роведены </a:t>
            </a:r>
            <a:r>
              <a:rPr lang="ru-RU" sz="2400" dirty="0"/>
              <a:t>анализ </a:t>
            </a:r>
            <a:r>
              <a:rPr lang="ru-RU" sz="2400" dirty="0" smtClean="0"/>
              <a:t>и классификация существующих </a:t>
            </a:r>
            <a:r>
              <a:rPr lang="ru-RU" sz="2400" dirty="0" smtClean="0"/>
              <a:t>решений</a:t>
            </a:r>
            <a:r>
              <a:rPr lang="en-US" sz="2400" dirty="0" smtClean="0"/>
              <a:t>;</a:t>
            </a:r>
            <a:endParaRPr lang="ru-RU" sz="2400" dirty="0"/>
          </a:p>
          <a:p>
            <a:r>
              <a:rPr lang="ru-RU" sz="2400" dirty="0"/>
              <a:t>в</a:t>
            </a:r>
            <a:r>
              <a:rPr lang="ru-RU" sz="2400" dirty="0" smtClean="0"/>
              <a:t>ыбран </a:t>
            </a:r>
            <a:r>
              <a:rPr lang="ru-RU" sz="2400" dirty="0" smtClean="0"/>
              <a:t>наиболее подходящий метод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pPr marL="0" indent="0">
              <a:buNone/>
            </a:pPr>
            <a:r>
              <a:rPr lang="ru-RU" sz="2400" dirty="0"/>
              <a:t>В</a:t>
            </a:r>
            <a:r>
              <a:rPr lang="ru-RU" sz="2400" dirty="0" smtClean="0"/>
              <a:t>ыбор </a:t>
            </a:r>
            <a:r>
              <a:rPr lang="ru-RU" sz="2400" dirty="0"/>
              <a:t>из различных методов глубокого обучения слабо влияет на результат </a:t>
            </a:r>
            <a:r>
              <a:rPr lang="ru-RU" sz="2400" dirty="0" smtClean="0"/>
              <a:t>упрощения. </a:t>
            </a:r>
            <a:r>
              <a:rPr lang="ru-RU" sz="2400" dirty="0"/>
              <a:t>О</a:t>
            </a:r>
            <a:r>
              <a:rPr lang="ru-RU" sz="2400" dirty="0" smtClean="0"/>
              <a:t>днако значительное </a:t>
            </a:r>
            <a:r>
              <a:rPr lang="ru-RU" sz="2400" dirty="0"/>
              <a:t>влияние на результат </a:t>
            </a:r>
            <a:r>
              <a:rPr lang="ru-RU" sz="2400" dirty="0"/>
              <a:t>оказывает </a:t>
            </a:r>
            <a:r>
              <a:rPr lang="ru-RU" sz="2400" dirty="0" smtClean="0"/>
              <a:t> использование дополнительных </a:t>
            </a:r>
            <a:r>
              <a:rPr lang="ru-RU" sz="2400" dirty="0"/>
              <a:t>показателей для фильтрации обучающих данных или для выбора наиболее подходящего упрощения из </a:t>
            </a:r>
            <a:r>
              <a:rPr lang="ru-RU" sz="2400" dirty="0" smtClean="0"/>
              <a:t>созданных. </a:t>
            </a:r>
            <a:r>
              <a:rPr lang="ru-RU" sz="2400" dirty="0"/>
              <a:t>И</a:t>
            </a:r>
            <a:r>
              <a:rPr lang="ru-RU" sz="2400" dirty="0" smtClean="0"/>
              <a:t>х </a:t>
            </a:r>
            <a:r>
              <a:rPr lang="ru-RU" sz="2400" dirty="0"/>
              <a:t>влияние на результат методов </a:t>
            </a:r>
            <a:r>
              <a:rPr lang="ru-RU" sz="2400" dirty="0" smtClean="0"/>
              <a:t>глубокого обучения требует </a:t>
            </a:r>
            <a:r>
              <a:rPr lang="ru-RU" sz="2400" dirty="0"/>
              <a:t>дальнейшего исследования.</a:t>
            </a: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z="1600" smtClean="0"/>
              <a:t>9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146931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2436</TotalTime>
  <Words>531</Words>
  <Application>Microsoft Office PowerPoint</Application>
  <PresentationFormat>Широкоэкранный</PresentationFormat>
  <Paragraphs>81</Paragraphs>
  <Slides>9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Упрощение текстов</vt:lpstr>
      <vt:lpstr>Цели и задачи</vt:lpstr>
      <vt:lpstr>Термины предметной области</vt:lpstr>
      <vt:lpstr>Критерии</vt:lpstr>
      <vt:lpstr>Метрики</vt:lpstr>
      <vt:lpstr>Подходы к решению задачи</vt:lpstr>
      <vt:lpstr>Генерация нового текста</vt:lpstr>
      <vt:lpstr>Классификация решений</vt:lpstr>
      <vt:lpstr>Заключение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Трехмерная визуализация вращения флюгера </dc:title>
  <dc:creator>Учетная запись Майкрософт</dc:creator>
  <cp:lastModifiedBy>Учетная запись Майкрософт</cp:lastModifiedBy>
  <cp:revision>34</cp:revision>
  <dcterms:created xsi:type="dcterms:W3CDTF">2021-12-04T21:28:34Z</dcterms:created>
  <dcterms:modified xsi:type="dcterms:W3CDTF">2022-01-18T15:05:23Z</dcterms:modified>
</cp:coreProperties>
</file>